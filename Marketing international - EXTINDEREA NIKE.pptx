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24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/>
          <p:cNvGrpSpPr/>
          <p:nvPr/>
        </p:nvGrpSpPr>
        <p:grpSpPr>
          <a:xfrm>
            <a:off x="0" y="-30477"/>
            <a:ext cx="12090400" cy="6889273"/>
            <a:chOff x="0" y="-30477"/>
            <a:chExt cx="9067800" cy="6889273"/>
          </a:xfrm>
        </p:grpSpPr>
        <p:cxnSp>
          <p:nvCxnSpPr>
            <p:cNvPr id="110" name="Straight Connector 109"/>
            <p:cNvCxnSpPr/>
            <p:nvPr/>
          </p:nvCxnSpPr>
          <p:spPr>
            <a:xfrm rot="16200000" flipH="1">
              <a:off x="-14478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 rot="16200000" flipH="1">
              <a:off x="-16383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rot="5400000">
              <a:off x="-14859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rot="5400000">
              <a:off x="-3238500" y="3314700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rot="16200000" flipH="1">
              <a:off x="-3314700" y="3314700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rot="16200000" flipH="1">
              <a:off x="-1371600" y="2971800"/>
              <a:ext cx="6858000" cy="9144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 rot="16200000" flipH="1">
              <a:off x="-2819400" y="3200400"/>
              <a:ext cx="6858000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 rot="5400000">
              <a:off x="-2705099" y="3238500"/>
              <a:ext cx="6858000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 rot="16200000" flipH="1">
              <a:off x="-2133600" y="3200400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 rot="16200000" flipH="1">
              <a:off x="-31242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rot="16200000" flipH="1">
              <a:off x="-1828799" y="3352799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rot="16200000" flipH="1">
              <a:off x="-28194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rot="16200000" flipH="1">
              <a:off x="-2438400" y="3124200"/>
              <a:ext cx="6858000" cy="609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 rot="5400000">
              <a:off x="-1731645" y="2722245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 rot="5400000">
              <a:off x="-1142048" y="3277552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rot="5400000">
              <a:off x="-9144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 rot="5400000">
              <a:off x="-1855470" y="3227070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rot="16200000" flipH="1">
              <a:off x="-2643187" y="3252788"/>
              <a:ext cx="6858000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 rot="16200000" flipH="1">
              <a:off x="-1954530" y="3326130"/>
              <a:ext cx="6858000" cy="20574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 rot="16200000" flipH="1">
              <a:off x="-23622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rot="16200000" flipH="1">
              <a:off x="-21336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rot="16200000" flipH="1">
              <a:off x="10668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rot="16200000" flipH="1">
              <a:off x="8763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rot="5400000">
              <a:off x="1028700" y="3238500"/>
              <a:ext cx="6858000" cy="3810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rot="5400000">
              <a:off x="-723900" y="3314700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rot="16200000" flipH="1">
              <a:off x="-800100" y="3314700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/>
          </p:nvCxnSpPr>
          <p:spPr>
            <a:xfrm rot="5400000">
              <a:off x="-152400" y="3429000"/>
              <a:ext cx="6858000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/>
          </p:nvCxnSpPr>
          <p:spPr>
            <a:xfrm rot="16200000" flipH="1">
              <a:off x="-304800" y="3200400"/>
              <a:ext cx="6858000" cy="4572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/>
          </p:nvCxnSpPr>
          <p:spPr>
            <a:xfrm rot="5400000">
              <a:off x="-190499" y="3238500"/>
              <a:ext cx="6858000" cy="3810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rot="16200000" flipH="1">
              <a:off x="381000" y="3200400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rot="16200000" flipH="1">
              <a:off x="-6096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rot="16200000" flipH="1">
              <a:off x="685801" y="3352799"/>
              <a:ext cx="6858000" cy="152401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rot="16200000" flipH="1">
              <a:off x="-3048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rot="5400000">
              <a:off x="-1028700" y="3314700"/>
              <a:ext cx="6858000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rot="5400000">
              <a:off x="782955" y="2722245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 rot="5400000">
              <a:off x="1372552" y="3277552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/>
          </p:nvCxnSpPr>
          <p:spPr>
            <a:xfrm rot="5400000">
              <a:off x="16002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 rot="5400000">
              <a:off x="659130" y="3227070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rot="16200000" flipH="1">
              <a:off x="-128587" y="3252788"/>
              <a:ext cx="6858000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rot="16200000" flipH="1">
              <a:off x="560070" y="3326130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rot="16200000" flipH="1">
              <a:off x="1524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rot="16200000" flipH="1">
              <a:off x="3810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/>
          </p:nvCxnSpPr>
          <p:spPr>
            <a:xfrm rot="16200000" flipH="1">
              <a:off x="2743200" y="3352801"/>
              <a:ext cx="6858000" cy="1524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 rot="16200000" flipH="1">
              <a:off x="2095501" y="3238501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/>
          </p:nvCxnSpPr>
          <p:spPr>
            <a:xfrm rot="5400000">
              <a:off x="2705100" y="3238501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 rot="5400000">
              <a:off x="1828801" y="3276600"/>
              <a:ext cx="6857999" cy="3048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/>
          </p:nvCxnSpPr>
          <p:spPr>
            <a:xfrm rot="16200000" flipH="1">
              <a:off x="1066800" y="3200402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/>
          </p:nvCxnSpPr>
          <p:spPr>
            <a:xfrm rot="16200000" flipH="1">
              <a:off x="2362201" y="3352800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/>
          </p:nvCxnSpPr>
          <p:spPr>
            <a:xfrm rot="5400000">
              <a:off x="2646045" y="2722246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5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/>
          </p:nvCxnSpPr>
          <p:spPr>
            <a:xfrm rot="5400000">
              <a:off x="3048952" y="3277553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/>
          </p:nvCxnSpPr>
          <p:spPr>
            <a:xfrm rot="5400000">
              <a:off x="2895600" y="3276601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/>
          </p:nvCxnSpPr>
          <p:spPr>
            <a:xfrm rot="5400000">
              <a:off x="2388870" y="3227071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/>
          </p:nvCxnSpPr>
          <p:spPr>
            <a:xfrm rot="16200000" flipH="1">
              <a:off x="2236470" y="3326131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/>
          </p:nvCxnSpPr>
          <p:spPr>
            <a:xfrm rot="16200000" flipH="1">
              <a:off x="1752600" y="3352801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/>
          </p:nvCxnSpPr>
          <p:spPr>
            <a:xfrm rot="16200000" flipH="1">
              <a:off x="19812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/>
          </p:nvCxnSpPr>
          <p:spPr>
            <a:xfrm rot="5400000">
              <a:off x="3467100" y="3314701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/>
          </p:nvCxnSpPr>
          <p:spPr>
            <a:xfrm rot="16200000" flipH="1">
              <a:off x="3467099" y="3314701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/>
          </p:nvCxnSpPr>
          <p:spPr>
            <a:xfrm rot="5400000">
              <a:off x="4038600" y="3429001"/>
              <a:ext cx="6858000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/>
          </p:nvCxnSpPr>
          <p:spPr>
            <a:xfrm rot="16200000" flipH="1">
              <a:off x="3886200" y="3200401"/>
              <a:ext cx="6858000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/>
          </p:nvCxnSpPr>
          <p:spPr>
            <a:xfrm rot="5400000">
              <a:off x="4000501" y="3238501"/>
              <a:ext cx="6858000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 rot="16200000" flipH="1">
              <a:off x="4572000" y="3200401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 rot="16200000" flipH="1">
              <a:off x="37338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/>
          </p:nvCxnSpPr>
          <p:spPr>
            <a:xfrm rot="5400000">
              <a:off x="3619500" y="3314700"/>
              <a:ext cx="6858000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 rot="16200000" flipH="1">
              <a:off x="4214813" y="3252788"/>
              <a:ext cx="6858000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/>
          </p:nvCxnSpPr>
          <p:spPr>
            <a:xfrm rot="16200000" flipH="1">
              <a:off x="4751070" y="3326131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 rot="16200000" flipH="1">
              <a:off x="4343400" y="3352801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/>
          </p:nvCxnSpPr>
          <p:spPr>
            <a:xfrm rot="16200000" flipH="1">
              <a:off x="4572000" y="3352801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/>
          </p:nvCxnSpPr>
          <p:spPr>
            <a:xfrm rot="16200000" flipH="1">
              <a:off x="5257800" y="3352802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 rot="16200000" flipH="1">
              <a:off x="5067300" y="3238502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/>
          </p:nvCxnSpPr>
          <p:spPr>
            <a:xfrm rot="5400000">
              <a:off x="5219700" y="3238502"/>
              <a:ext cx="6858000" cy="3810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 rot="16200000" flipH="1">
              <a:off x="4876801" y="3352801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/>
          </p:nvCxnSpPr>
          <p:spPr>
            <a:xfrm rot="5400000">
              <a:off x="5527994" y="3318196"/>
              <a:ext cx="6888479" cy="191133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/>
          </p:nvCxnSpPr>
          <p:spPr>
            <a:xfrm rot="5400000">
              <a:off x="4850130" y="3227072"/>
              <a:ext cx="6858000" cy="40386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 rot="16200000" flipH="1">
              <a:off x="4751070" y="3326132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/>
          </p:nvCxnSpPr>
          <p:spPr>
            <a:xfrm rot="5400000">
              <a:off x="5562599" y="3429001"/>
              <a:ext cx="6858002" cy="1588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/>
          </p:nvCxnSpPr>
          <p:spPr>
            <a:xfrm rot="5400000">
              <a:off x="2552700" y="3390900"/>
              <a:ext cx="6858000" cy="76200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/>
            <p:nvPr/>
          </p:nvCxnSpPr>
          <p:spPr>
            <a:xfrm rot="16200000" flipH="1">
              <a:off x="3048000" y="3352800"/>
              <a:ext cx="6858000" cy="1524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 rot="16200000" flipH="1">
              <a:off x="3238500" y="3238500"/>
              <a:ext cx="6858000" cy="381000"/>
            </a:xfrm>
            <a:prstGeom prst="line">
              <a:avLst/>
            </a:prstGeom>
            <a:ln w="19050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 rot="5400000">
              <a:off x="2133600" y="3276600"/>
              <a:ext cx="6858000" cy="3048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 rot="16200000" flipH="1">
              <a:off x="3148013" y="3252789"/>
              <a:ext cx="6858000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/>
          </p:nvCxnSpPr>
          <p:spPr>
            <a:xfrm rot="5400000">
              <a:off x="37719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 rot="5400000">
              <a:off x="4229100" y="2933700"/>
              <a:ext cx="6858000" cy="990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/>
          </p:nvCxnSpPr>
          <p:spPr>
            <a:xfrm rot="16200000" flipH="1">
              <a:off x="1371600" y="3200403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C72C2-F46B-4A46-AE09-53BDFE184642}" type="datetimeFigureOut">
              <a:rPr lang="ro-RO" smtClean="0"/>
              <a:t>17.03.2025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F1-2562-499A-836B-8809534804D0}" type="slidenum">
              <a:rPr lang="ro-RO" smtClean="0"/>
              <a:t>‹#›</a:t>
            </a:fld>
            <a:endParaRPr lang="ro-RO"/>
          </a:p>
        </p:txBody>
      </p:sp>
      <p:sp>
        <p:nvSpPr>
          <p:cNvPr id="113" name="Rectangle 112"/>
          <p:cNvSpPr/>
          <p:nvPr/>
        </p:nvSpPr>
        <p:spPr>
          <a:xfrm>
            <a:off x="0" y="1905000"/>
            <a:ext cx="6604000" cy="3124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0" y="2057400"/>
            <a:ext cx="6401859" cy="2820988"/>
            <a:chOff x="0" y="2057400"/>
            <a:chExt cx="4801394" cy="2820988"/>
          </a:xfrm>
        </p:grpSpPr>
        <p:cxnSp>
          <p:nvCxnSpPr>
            <p:cNvPr id="117" name="Straight Connector 116"/>
            <p:cNvCxnSpPr/>
            <p:nvPr/>
          </p:nvCxnSpPr>
          <p:spPr>
            <a:xfrm>
              <a:off x="0" y="2057400"/>
              <a:ext cx="4800600" cy="158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0" y="4876800"/>
              <a:ext cx="4800600" cy="158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rot="5400000">
              <a:off x="3391694" y="3467100"/>
              <a:ext cx="2818606" cy="794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5892800" cy="1600327"/>
          </a:xfrm>
        </p:spPr>
        <p:txBody>
          <a:bodyPr anchor="b">
            <a:normAutofit/>
          </a:bodyPr>
          <a:lstStyle>
            <a:lvl1pPr algn="l">
              <a:defRPr sz="3600" b="1" cap="none" spc="40" baseline="0">
                <a:ln w="1333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733800"/>
            <a:ext cx="5892800" cy="1066800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C72C2-F46B-4A46-AE09-53BDFE184642}" type="datetimeFigureOut">
              <a:rPr lang="ro-RO" smtClean="0"/>
              <a:t>17.03.2025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F1-2562-499A-836B-8809534804D0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2"/>
          <p:cNvGrpSpPr/>
          <p:nvPr/>
        </p:nvGrpSpPr>
        <p:grpSpPr>
          <a:xfrm>
            <a:off x="2" y="-30478"/>
            <a:ext cx="12090399" cy="4846320"/>
            <a:chOff x="1" y="-30477"/>
            <a:chExt cx="9067799" cy="4526277"/>
          </a:xfrm>
        </p:grpSpPr>
        <p:cxnSp>
          <p:nvCxnSpPr>
            <p:cNvPr id="8" name="Straight Connector 7"/>
            <p:cNvCxnSpPr/>
            <p:nvPr/>
          </p:nvCxnSpPr>
          <p:spPr>
            <a:xfrm rot="16200000" flipH="1">
              <a:off x="-27166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6200000" flipH="1">
              <a:off x="-46216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5400000">
              <a:off x="-30976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5400000">
              <a:off x="-206236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H="1">
              <a:off x="-2138565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6200000" flipH="1">
              <a:off x="-195465" y="1785212"/>
              <a:ext cx="4505731" cy="9144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6200000" flipH="1">
              <a:off x="-1643265" y="2013812"/>
              <a:ext cx="4505731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5400000">
              <a:off x="-1528964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H="1">
              <a:off x="-957465" y="2013812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6200000" flipH="1">
              <a:off x="-194806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6200000" flipH="1">
              <a:off x="-652664" y="2166211"/>
              <a:ext cx="4505731" cy="152401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16200000" flipH="1">
              <a:off x="-164326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H="1">
              <a:off x="-1790700" y="2019300"/>
              <a:ext cx="4495800" cy="4572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>
              <a:off x="-55551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>
              <a:off x="34087" y="2090964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>
              <a:off x="2617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rot="5400000">
              <a:off x="-67933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rot="16200000" flipH="1">
              <a:off x="-1467052" y="2066200"/>
              <a:ext cx="4505731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-77839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16200000" flipH="1">
              <a:off x="-118606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16200000" flipH="1">
              <a:off x="-95746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16200000" flipH="1">
              <a:off x="22429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16200000" flipH="1">
              <a:off x="20524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2204835" y="2051912"/>
              <a:ext cx="4505731" cy="3810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45223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16200000" flipH="1">
              <a:off x="376035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1023735" y="2242139"/>
              <a:ext cx="4505731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16200000" flipH="1">
              <a:off x="871335" y="2013812"/>
              <a:ext cx="4505731" cy="4572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985636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557135" y="2013812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16200000" flipH="1">
              <a:off x="5665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6200000" flipH="1">
              <a:off x="1861936" y="2166211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6200000" flipH="1">
              <a:off x="8713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147435" y="2128112"/>
              <a:ext cx="4505731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195909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2548687" y="2090964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27763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83526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16200000" flipH="1">
              <a:off x="1047548" y="2066200"/>
              <a:ext cx="4505731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16200000" flipH="1">
              <a:off x="17362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13285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16200000" flipH="1">
              <a:off x="1557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16200000" flipH="1">
              <a:off x="3919335" y="2166212"/>
              <a:ext cx="4505731" cy="152400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16200000" flipH="1">
              <a:off x="3271636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8812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004936" y="2090012"/>
              <a:ext cx="4505730" cy="3048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16200000" flipH="1">
              <a:off x="2242935" y="2013813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16200000" flipH="1">
              <a:off x="3538336" y="2166212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382218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5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4225087" y="2090965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40717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356500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16200000" flipH="1">
              <a:off x="34126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rot="16200000" flipH="1">
              <a:off x="2928735" y="2166212"/>
              <a:ext cx="4505731" cy="152400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rot="16200000" flipH="1">
              <a:off x="3081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464323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16200000" flipH="1">
              <a:off x="4643234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5214735" y="2242140"/>
              <a:ext cx="4505731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16200000" flipH="1">
              <a:off x="5062335" y="2013812"/>
              <a:ext cx="4505731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5176636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16200000" flipH="1">
              <a:off x="5748135" y="2013813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16200000" flipH="1">
              <a:off x="49099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4795635" y="2128112"/>
              <a:ext cx="4505731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16200000" flipH="1">
              <a:off x="5390948" y="2066200"/>
              <a:ext cx="4505731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16200000" flipH="1">
              <a:off x="59272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rot="16200000" flipH="1">
              <a:off x="55195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rot="16200000" flipH="1">
              <a:off x="5748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rot="16200000" flipH="1">
              <a:off x="6433935" y="2166213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rot="16200000" flipH="1">
              <a:off x="6243435" y="2051913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rot="5400000">
              <a:off x="6395835" y="2051913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rot="16200000" flipH="1">
              <a:off x="6052936" y="2166212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5400000">
              <a:off x="6709356" y="2136834"/>
              <a:ext cx="4525755" cy="191133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5400000">
              <a:off x="6026265" y="2040483"/>
              <a:ext cx="4505731" cy="40386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16200000" flipH="1">
              <a:off x="5927205" y="2139543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rot="5400000">
              <a:off x="6738734" y="2242140"/>
              <a:ext cx="4505732" cy="1588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rot="5400000">
              <a:off x="3728835" y="2204312"/>
              <a:ext cx="4505731" cy="76200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rot="16200000" flipH="1">
              <a:off x="4224135" y="2166212"/>
              <a:ext cx="4505731" cy="1524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rot="16200000" flipH="1">
              <a:off x="4414635" y="2051912"/>
              <a:ext cx="4505731" cy="381000"/>
            </a:xfrm>
            <a:prstGeom prst="line">
              <a:avLst/>
            </a:prstGeom>
            <a:ln w="19050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rot="5400000">
              <a:off x="3309735" y="2090012"/>
              <a:ext cx="4505731" cy="3048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rot="16200000" flipH="1">
              <a:off x="4324148" y="2066200"/>
              <a:ext cx="4505731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rot="5400000">
              <a:off x="49480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rot="5400000">
              <a:off x="5405235" y="1747112"/>
              <a:ext cx="4505731" cy="990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rot="16200000" flipH="1">
              <a:off x="2547735" y="2013814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tangle 93"/>
          <p:cNvSpPr/>
          <p:nvPr/>
        </p:nvSpPr>
        <p:spPr>
          <a:xfrm>
            <a:off x="0" y="4311168"/>
            <a:ext cx="12192000" cy="190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96" name="Straight Connector 95"/>
          <p:cNvCxnSpPr/>
          <p:nvPr/>
        </p:nvCxnSpPr>
        <p:spPr>
          <a:xfrm>
            <a:off x="0" y="4387368"/>
            <a:ext cx="1219200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0" y="6138380"/>
            <a:ext cx="1219200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621365"/>
            <a:ext cx="11074400" cy="414649"/>
          </a:xfrm>
        </p:spPr>
        <p:txBody>
          <a:bodyPr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" name="Title 94"/>
          <p:cNvSpPr>
            <a:spLocks noGrp="1"/>
          </p:cNvSpPr>
          <p:nvPr>
            <p:ph type="title"/>
          </p:nvPr>
        </p:nvSpPr>
        <p:spPr>
          <a:xfrm>
            <a:off x="609600" y="4463568"/>
            <a:ext cx="11074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C72C2-F46B-4A46-AE09-53BDFE184642}" type="datetimeFigureOut">
              <a:rPr lang="ro-RO" smtClean="0"/>
              <a:t>17.03.2025</a:t>
            </a:fld>
            <a:endParaRPr lang="ro-RO"/>
          </a:p>
        </p:txBody>
      </p:sp>
      <p:sp>
        <p:nvSpPr>
          <p:cNvPr id="91" name="Footer Placeholder 9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2" name="Slide Number Placeholder 9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F1-2562-499A-836B-8809534804D0}" type="slidenum">
              <a:rPr lang="ro-RO" smtClean="0"/>
              <a:t>‹#›</a:t>
            </a:fld>
            <a:endParaRPr lang="ro-R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C72C2-F46B-4A46-AE09-53BDFE184642}" type="datetimeFigureOut">
              <a:rPr lang="ro-RO" smtClean="0"/>
              <a:t>17.03.2025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F1-2562-499A-836B-8809534804D0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C72C2-F46B-4A46-AE09-53BDFE184642}" type="datetimeFigureOut">
              <a:rPr lang="ro-RO" smtClean="0"/>
              <a:t>17.03.2025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F1-2562-499A-836B-8809534804D0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C72C2-F46B-4A46-AE09-53BDFE184642}" type="datetimeFigureOut">
              <a:rPr lang="ro-RO" smtClean="0"/>
              <a:t>17.03.2025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F1-2562-499A-836B-8809534804D0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C72C2-F46B-4A46-AE09-53BDFE184642}" type="datetimeFigureOut">
              <a:rPr lang="ro-RO" smtClean="0"/>
              <a:t>17.03.2025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F1-2562-499A-836B-8809534804D0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0" y="273051"/>
            <a:ext cx="7315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C72C2-F46B-4A46-AE09-53BDFE184642}" type="datetimeFigureOut">
              <a:rPr lang="ro-RO" smtClean="0"/>
              <a:t>17.03.2025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F1-2562-499A-836B-8809534804D0}" type="slidenum">
              <a:rPr lang="ro-RO" smtClean="0"/>
              <a:t>‹#›</a:t>
            </a:fld>
            <a:endParaRPr lang="ro-RO"/>
          </a:p>
        </p:txBody>
      </p:sp>
      <p:sp>
        <p:nvSpPr>
          <p:cNvPr id="37" name="Rectangle 36"/>
          <p:cNvSpPr/>
          <p:nvPr/>
        </p:nvSpPr>
        <p:spPr>
          <a:xfrm>
            <a:off x="0" y="1563624"/>
            <a:ext cx="3681984" cy="331317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 rot="5400000">
            <a:off x="2007129" y="3221207"/>
            <a:ext cx="3017520" cy="105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0" y="1712976"/>
            <a:ext cx="353568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0" y="4733544"/>
            <a:ext cx="353568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1901952"/>
            <a:ext cx="3169920" cy="1371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tabLst>
                <a:tab pos="3830638" algn="l"/>
              </a:tabLst>
              <a:defRPr lang="en-US" sz="2600" b="1" kern="1200" cap="none" spc="20" baseline="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3200" y="3273552"/>
            <a:ext cx="3169920" cy="1371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67200" y="381000"/>
            <a:ext cx="7416800" cy="5638800"/>
          </a:xfrm>
          <a:solidFill>
            <a:schemeClr val="bg2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C72C2-F46B-4A46-AE09-53BDFE184642}" type="datetimeFigureOut">
              <a:rPr lang="ro-RO" smtClean="0"/>
              <a:t>17.03.2025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F1-2562-499A-836B-8809534804D0}" type="slidenum">
              <a:rPr lang="ro-RO" smtClean="0"/>
              <a:t>‹#›</a:t>
            </a:fld>
            <a:endParaRPr lang="ro-RO"/>
          </a:p>
        </p:txBody>
      </p:sp>
      <p:sp>
        <p:nvSpPr>
          <p:cNvPr id="33" name="Rectangle 32"/>
          <p:cNvSpPr/>
          <p:nvPr/>
        </p:nvSpPr>
        <p:spPr>
          <a:xfrm>
            <a:off x="0" y="1563624"/>
            <a:ext cx="3681984" cy="331317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2007129" y="3221207"/>
            <a:ext cx="3017520" cy="105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0" y="1712976"/>
            <a:ext cx="353568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0" y="4733544"/>
            <a:ext cx="353568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264" y="1905000"/>
            <a:ext cx="3169920" cy="1371600"/>
          </a:xfrm>
        </p:spPr>
        <p:txBody>
          <a:bodyPr anchor="b">
            <a:normAutofit/>
          </a:bodyPr>
          <a:lstStyle>
            <a:lvl1pPr algn="l">
              <a:defRPr sz="2600" b="1" cap="none" spc="20" baseline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3200" y="3276600"/>
            <a:ext cx="3169920" cy="1371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C72C2-F46B-4A46-AE09-53BDFE184642}" type="datetimeFigureOut">
              <a:rPr lang="ro-RO" smtClean="0"/>
              <a:t>17.03.2025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F1-2562-499A-836B-8809534804D0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C72C2-F46B-4A46-AE09-53BDFE184642}" type="datetimeFigureOut">
              <a:rPr lang="ro-RO" smtClean="0"/>
              <a:t>17.03.2025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F1-2562-499A-836B-8809534804D0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89"/>
          <p:cNvSpPr/>
          <p:nvPr/>
        </p:nvSpPr>
        <p:spPr>
          <a:xfrm>
            <a:off x="199136" y="137160"/>
            <a:ext cx="11826240" cy="6583680"/>
          </a:xfrm>
          <a:prstGeom prst="rect">
            <a:avLst/>
          </a:prstGeom>
          <a:noFill/>
          <a:ln w="19050" cmpd="sng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1240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1EC72C2-F46B-4A46-AE09-53BDFE184642}" type="datetimeFigureOut">
              <a:rPr lang="ro-RO" smtClean="0"/>
              <a:t>17.03.2025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74831" y="6312409"/>
            <a:ext cx="4642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1240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3D03F4F1-2562-499A-836B-8809534804D0}" type="slidenum">
              <a:rPr lang="ro-RO" smtClean="0"/>
              <a:t>‹#›</a:t>
            </a:fld>
            <a:endParaRPr lang="ro-R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914400" rtl="0" eaLnBrk="1" latinLnBrk="0" hangingPunct="1">
        <a:spcBef>
          <a:spcPct val="0"/>
        </a:spcBef>
        <a:buNone/>
        <a:tabLst>
          <a:tab pos="3830638" algn="l"/>
        </a:tabLst>
        <a:defRPr sz="3600" b="1" kern="1200" cap="none" spc="50">
          <a:ln w="13335" cmpd="sng">
            <a:solidFill>
              <a:schemeClr val="accent1">
                <a:lumMod val="50000"/>
              </a:schemeClr>
            </a:solidFill>
            <a:prstDash val="solid"/>
          </a:ln>
          <a:solidFill>
            <a:schemeClr val="accent6">
              <a:tint val="1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8872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2YDrgoRpic8?feature=oembed" TargetMode="External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Gelu\Desktop\NIKE PROJECT\snk 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60598"/>
            <a:ext cx="2875385" cy="2382883"/>
          </a:xfrm>
          <a:prstGeom prst="rect">
            <a:avLst/>
          </a:prstGeom>
          <a:noFill/>
          <a:effectLst>
            <a:glow rad="101600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Gelu\Desktop\pngimg.com - nike_PNG4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137" y="2018551"/>
            <a:ext cx="5046434" cy="2633241"/>
          </a:xfrm>
          <a:prstGeom prst="rect">
            <a:avLst/>
          </a:prstGeom>
          <a:noFill/>
          <a:effectLst>
            <a:glow rad="228600">
              <a:schemeClr val="bg1">
                <a:lumMod val="95000"/>
                <a:lumOff val="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C:\Users\Gelu\Desktop\NIKE PROJECT\imgbin_air-force-nike-dunk-nike-skateboarding-shoe-pn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91612">
            <a:off x="8673700" y="510457"/>
            <a:ext cx="3193597" cy="1596798"/>
          </a:xfrm>
          <a:prstGeom prst="rect">
            <a:avLst/>
          </a:prstGeom>
          <a:noFill/>
          <a:effectLst>
            <a:glow rad="101600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07759" y="283891"/>
            <a:ext cx="786676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800" dirty="0">
                <a:solidFill>
                  <a:schemeClr val="bg1"/>
                </a:solidFill>
              </a:rPr>
              <a:t>✔</a:t>
            </a:r>
            <a:r>
              <a:rPr lang="vi-VN" sz="2800" dirty="0"/>
              <a:t> </a:t>
            </a:r>
            <a:r>
              <a:rPr lang="vi-VN" sz="2800" b="1" dirty="0"/>
              <a:t>Fondată</a:t>
            </a:r>
            <a:r>
              <a:rPr lang="vi-VN" sz="2800" dirty="0"/>
              <a:t> în 1964 (inițial </a:t>
            </a:r>
            <a:r>
              <a:rPr lang="vi-VN" sz="2800" i="1" dirty="0"/>
              <a:t>Blue Ribbon Sports</a:t>
            </a:r>
            <a:r>
              <a:rPr lang="vi-VN" sz="2800" dirty="0"/>
              <a:t>)</a:t>
            </a:r>
            <a:br>
              <a:rPr lang="vi-VN" sz="2800" dirty="0"/>
            </a:br>
            <a:r>
              <a:rPr lang="vi-VN" sz="2800" dirty="0">
                <a:solidFill>
                  <a:schemeClr val="bg1"/>
                </a:solidFill>
              </a:rPr>
              <a:t>✔</a:t>
            </a:r>
            <a:r>
              <a:rPr lang="vi-VN" sz="2800" dirty="0"/>
              <a:t> </a:t>
            </a:r>
            <a:r>
              <a:rPr lang="vi-VN" sz="2800" b="1" dirty="0"/>
              <a:t>Sediu</a:t>
            </a:r>
            <a:r>
              <a:rPr lang="vi-VN" sz="2800" dirty="0"/>
              <a:t>: Beaverton, Oregon, SUA</a:t>
            </a:r>
            <a:br>
              <a:rPr lang="vi-VN" sz="2800" dirty="0"/>
            </a:br>
            <a:r>
              <a:rPr lang="vi-VN" sz="2800" dirty="0">
                <a:solidFill>
                  <a:schemeClr val="bg1"/>
                </a:solidFill>
              </a:rPr>
              <a:t>✔</a:t>
            </a:r>
            <a:r>
              <a:rPr lang="vi-VN" sz="2800" dirty="0"/>
              <a:t> </a:t>
            </a:r>
            <a:r>
              <a:rPr lang="vi-VN" sz="2800" b="1" dirty="0"/>
              <a:t>Slogan</a:t>
            </a:r>
            <a:r>
              <a:rPr lang="vi-VN" sz="2800" dirty="0"/>
              <a:t>: </a:t>
            </a:r>
            <a:r>
              <a:rPr lang="vi-VN" sz="2800" i="1" dirty="0"/>
              <a:t>Just Do It</a:t>
            </a:r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5087538" y="4945747"/>
            <a:ext cx="770422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dirty="0">
                <a:solidFill>
                  <a:schemeClr val="bg1"/>
                </a:solidFill>
              </a:rPr>
              <a:t>✔</a:t>
            </a:r>
            <a:r>
              <a:rPr lang="vi-VN" sz="2800" dirty="0"/>
              <a:t> </a:t>
            </a:r>
            <a:r>
              <a:rPr lang="vi-VN" sz="2800" b="1" dirty="0"/>
              <a:t>Lider global</a:t>
            </a:r>
            <a:r>
              <a:rPr lang="vi-VN" sz="2800" dirty="0"/>
              <a:t> în echipamente sportive</a:t>
            </a:r>
            <a:endParaRPr lang="ro-RO" sz="2800" dirty="0"/>
          </a:p>
          <a:p>
            <a:r>
              <a:rPr lang="vi-VN" sz="2800" dirty="0">
                <a:solidFill>
                  <a:schemeClr val="bg1"/>
                </a:solidFill>
              </a:rPr>
              <a:t>✔ </a:t>
            </a:r>
            <a:r>
              <a:rPr lang="ro-RO" sz="2800" b="1" dirty="0">
                <a:latin typeface="Tahoma (body)"/>
              </a:rPr>
              <a:t>Colaborări</a:t>
            </a:r>
            <a:r>
              <a:rPr lang="ro-RO" sz="2800" dirty="0">
                <a:latin typeface="Tahoma (body)"/>
              </a:rPr>
              <a:t> cu sportivi celebrii</a:t>
            </a:r>
            <a:br>
              <a:rPr lang="vi-VN" sz="2800" dirty="0"/>
            </a:br>
            <a:r>
              <a:rPr lang="vi-VN" sz="2800" dirty="0">
                <a:solidFill>
                  <a:schemeClr val="bg1"/>
                </a:solidFill>
              </a:rPr>
              <a:t>✔</a:t>
            </a:r>
            <a:r>
              <a:rPr lang="vi-VN" sz="2800" dirty="0"/>
              <a:t> </a:t>
            </a:r>
            <a:r>
              <a:rPr lang="vi-VN" sz="2800" b="1" dirty="0"/>
              <a:t>Prezentă</a:t>
            </a:r>
            <a:r>
              <a:rPr lang="vi-VN" sz="2800" dirty="0"/>
              <a:t> în peste 190 de țări</a:t>
            </a:r>
            <a:endParaRPr lang="ro-RO" sz="2800" dirty="0"/>
          </a:p>
          <a:p>
            <a:endParaRPr lang="en-US" sz="28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507760" y="1747880"/>
            <a:ext cx="8120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2516623" y="4779103"/>
            <a:ext cx="9103540" cy="16513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75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83000"/>
                <a:shade val="97000"/>
                <a:satMod val="230000"/>
                <a:alpha val="99000"/>
              </a:schemeClr>
            </a:gs>
            <a:gs pos="100000">
              <a:schemeClr val="bg2">
                <a:shade val="35000"/>
                <a:satMod val="250000"/>
              </a:schemeClr>
            </a:gs>
          </a:gsLst>
          <a:path path="circle">
            <a:fillToRect l="15000" t="50000" r="85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610D3-8C8F-82E1-9590-8E391C354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691" y="194208"/>
            <a:ext cx="10972800" cy="784492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ro-RO" sz="4000" dirty="0">
                <a:latin typeface="Futura PT" pitchFamily="34" charset="-18"/>
              </a:rPr>
              <a:t>STRATEGII DE INTRARE PE PIEȚELE STRĂINE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67233" y="2550265"/>
            <a:ext cx="1087839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dirty="0">
                <a:solidFill>
                  <a:schemeClr val="bg1"/>
                </a:solidFill>
              </a:rPr>
              <a:t>✔</a:t>
            </a:r>
            <a:r>
              <a:rPr lang="vi-VN" sz="2800" dirty="0"/>
              <a:t> </a:t>
            </a:r>
            <a:r>
              <a:rPr lang="vi-VN" sz="2800" b="1" dirty="0"/>
              <a:t>Francizare</a:t>
            </a:r>
            <a:endParaRPr lang="ro-RO" sz="2800" b="1" dirty="0"/>
          </a:p>
          <a:p>
            <a:r>
              <a:rPr lang="vi-VN" sz="2800" dirty="0">
                <a:solidFill>
                  <a:schemeClr val="bg1"/>
                </a:solidFill>
              </a:rPr>
              <a:t>✔</a:t>
            </a:r>
            <a:r>
              <a:rPr lang="vi-VN" sz="2800" dirty="0"/>
              <a:t> </a:t>
            </a:r>
            <a:r>
              <a:rPr lang="vi-VN" sz="2800" b="1" dirty="0"/>
              <a:t>E-commerce global</a:t>
            </a:r>
            <a:endParaRPr lang="ro-RO" sz="2800" b="1" dirty="0"/>
          </a:p>
          <a:p>
            <a:r>
              <a:rPr lang="vi-VN" sz="2800" dirty="0">
                <a:solidFill>
                  <a:schemeClr val="bg1"/>
                </a:solidFill>
              </a:rPr>
              <a:t>✔</a:t>
            </a:r>
            <a:r>
              <a:rPr lang="vi-VN" sz="2800" dirty="0"/>
              <a:t> </a:t>
            </a:r>
            <a:r>
              <a:rPr lang="vi-VN" sz="2800" b="1" dirty="0"/>
              <a:t>Parteneriate strategice</a:t>
            </a:r>
            <a:endParaRPr lang="ro-RO" sz="2800" b="1" dirty="0"/>
          </a:p>
          <a:p>
            <a:r>
              <a:rPr lang="vi-VN" sz="2800" dirty="0">
                <a:solidFill>
                  <a:schemeClr val="bg1"/>
                </a:solidFill>
              </a:rPr>
              <a:t>✔</a:t>
            </a:r>
            <a:r>
              <a:rPr lang="vi-VN" sz="2800" dirty="0"/>
              <a:t> </a:t>
            </a:r>
            <a:r>
              <a:rPr lang="vi-VN" sz="2800" b="1" dirty="0"/>
              <a:t>Sponsorizări locale și internaționale</a:t>
            </a:r>
            <a:br>
              <a:rPr lang="vi-VN" sz="2800" dirty="0"/>
            </a:br>
            <a:r>
              <a:rPr lang="vi-VN" sz="2800" dirty="0">
                <a:solidFill>
                  <a:schemeClr val="bg1"/>
                </a:solidFill>
              </a:rPr>
              <a:t>✔</a:t>
            </a:r>
            <a:r>
              <a:rPr lang="vi-VN" sz="2800" dirty="0"/>
              <a:t> </a:t>
            </a:r>
            <a:r>
              <a:rPr lang="vi-VN" sz="2800" b="1" dirty="0"/>
              <a:t>Adaptarea produselor la cultura locală</a:t>
            </a:r>
            <a:br>
              <a:rPr lang="vi-VN" sz="2800" dirty="0"/>
            </a:br>
            <a:br>
              <a:rPr lang="vi-VN" sz="2800" dirty="0"/>
            </a:br>
            <a:br>
              <a:rPr lang="vi-VN" sz="2800" dirty="0"/>
            </a:br>
            <a:br>
              <a:rPr lang="vi-VN" sz="2800" dirty="0"/>
            </a:br>
            <a:endParaRPr lang="vi-VN" sz="2800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183418" y="5235547"/>
            <a:ext cx="7309808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  <a:outerShdw blurRad="63500" dist="25400" dir="5400000" rotWithShape="0">
              <a:srgbClr val="000000">
                <a:alpha val="43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91511" y="2227008"/>
            <a:ext cx="7309808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  <a:outerShdw blurRad="63500" dist="25400" dir="5400000" rotWithShape="0">
              <a:srgbClr val="000000">
                <a:alpha val="43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51" name="Picture 3" descr="C:\Users\Gelu\Desktop\NIKE PROJECT\market-entry-strateg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901" y="1381125"/>
            <a:ext cx="4610100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1049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E603-E476-A714-D8DB-952E9FB05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29" y="761746"/>
            <a:ext cx="9567990" cy="7060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ro-RO" sz="4800" dirty="0">
                <a:latin typeface="Futura PT" pitchFamily="34" charset="-18"/>
              </a:rPr>
              <a:t>OPORTUNITĂȚI DE MARKETING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18484" y="1552322"/>
            <a:ext cx="10382081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895009" y="6324347"/>
            <a:ext cx="7705556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9" name="Picture 7" descr="C:\Users\Gelu\Desktop\NIKE PROJECT\opportunity (3) cop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4" y="2244088"/>
            <a:ext cx="2656969" cy="2656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/>
          <p:cNvSpPr/>
          <p:nvPr/>
        </p:nvSpPr>
        <p:spPr>
          <a:xfrm>
            <a:off x="4609340" y="2358614"/>
            <a:ext cx="59912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dirty="0">
                <a:solidFill>
                  <a:schemeClr val="bg1"/>
                </a:solidFill>
              </a:rPr>
              <a:t>✔</a:t>
            </a:r>
            <a:r>
              <a:rPr lang="en-US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C</a:t>
            </a:r>
            <a:r>
              <a:rPr lang="ro-RO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reșterea pieței de sport și fitness</a:t>
            </a:r>
            <a:br>
              <a:rPr lang="vi-VN" sz="2800" dirty="0"/>
            </a:br>
            <a:r>
              <a:rPr lang="vi-VN" sz="2800" dirty="0">
                <a:solidFill>
                  <a:schemeClr val="bg1"/>
                </a:solidFill>
              </a:rPr>
              <a:t>✔</a:t>
            </a:r>
            <a:r>
              <a:rPr lang="ro-RO" sz="2800" dirty="0">
                <a:solidFill>
                  <a:schemeClr val="bg1"/>
                </a:solidFill>
              </a:rPr>
              <a:t> </a:t>
            </a:r>
            <a:r>
              <a:rPr lang="ro-RO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Expansiunea e-commerce-ului global</a:t>
            </a:r>
            <a:r>
              <a:rPr lang="ro-RO" sz="2800" dirty="0"/>
              <a:t> </a:t>
            </a:r>
            <a:br>
              <a:rPr lang="vi-VN" sz="2800" dirty="0"/>
            </a:br>
            <a:r>
              <a:rPr lang="vi-VN" sz="2800" dirty="0">
                <a:solidFill>
                  <a:schemeClr val="bg1"/>
                </a:solidFill>
              </a:rPr>
              <a:t>✔</a:t>
            </a:r>
            <a:r>
              <a:rPr lang="ro-RO" sz="2800" dirty="0">
                <a:solidFill>
                  <a:schemeClr val="bg1"/>
                </a:solidFill>
              </a:rPr>
              <a:t> </a:t>
            </a:r>
            <a:r>
              <a:rPr lang="ro-RO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Asocierea cu sportivi celebrii</a:t>
            </a:r>
            <a:br>
              <a:rPr lang="vi-VN" sz="2800" dirty="0"/>
            </a:br>
            <a:r>
              <a:rPr lang="vi-VN" sz="2800" dirty="0">
                <a:solidFill>
                  <a:schemeClr val="bg1"/>
                </a:solidFill>
              </a:rPr>
              <a:t>✔</a:t>
            </a:r>
            <a:r>
              <a:rPr lang="ro-RO" sz="2800" dirty="0">
                <a:solidFill>
                  <a:schemeClr val="bg1"/>
                </a:solidFill>
              </a:rPr>
              <a:t> </a:t>
            </a:r>
            <a:r>
              <a:rPr lang="ro-RO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Creșterea interesului pentru sustenabilitate</a:t>
            </a:r>
            <a:endParaRPr lang="en-US" sz="2800" dirty="0"/>
          </a:p>
        </p:txBody>
      </p:sp>
      <p:pic>
        <p:nvPicPr>
          <p:cNvPr id="3081" name="Picture 9" descr="C:\Users\Gelu\Desktop\NIKE PROJECT\opportunity (6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84" y="2957366"/>
            <a:ext cx="4154081" cy="4154081"/>
          </a:xfrm>
          <a:prstGeom prst="rect">
            <a:avLst/>
          </a:prstGeom>
          <a:noFill/>
          <a:effectLst>
            <a:glow rad="101600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Isosceles Triangle 28"/>
          <p:cNvSpPr/>
          <p:nvPr/>
        </p:nvSpPr>
        <p:spPr>
          <a:xfrm rot="16200000">
            <a:off x="2823104" y="2000943"/>
            <a:ext cx="1229299" cy="1944642"/>
          </a:xfrm>
          <a:prstGeom prst="triangle">
            <a:avLst/>
          </a:prstGeom>
          <a:solidFill>
            <a:schemeClr val="tx1">
              <a:alpha val="1000"/>
            </a:schemeClr>
          </a:solidFill>
          <a:ln>
            <a:noFill/>
          </a:ln>
          <a:effectLst>
            <a:glow rad="139700">
              <a:schemeClr val="tx1">
                <a:alpha val="25000"/>
              </a:schemeClr>
            </a:glow>
            <a:reflection endPos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90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4D8C0-CB26-D870-02A7-79FCDCADB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409" y="590550"/>
            <a:ext cx="11779306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ro-RO" sz="6600" dirty="0">
                <a:latin typeface="Futura PT" pitchFamily="34" charset="-18"/>
              </a:rPr>
              <a:t>POLITICA DE PRODUS</a:t>
            </a:r>
          </a:p>
        </p:txBody>
      </p:sp>
      <p:pic>
        <p:nvPicPr>
          <p:cNvPr id="4098" name="Picture 2" descr="C:\Users\Gelu\Desktop\NIKE PROJECT\open-box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2800076"/>
            <a:ext cx="2933700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Gelu\Desktop\NIKE PROJECT\und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89089">
            <a:off x="1450484" y="1644231"/>
            <a:ext cx="2407488" cy="2407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3095625" y="1666875"/>
            <a:ext cx="8524875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628775" y="6591300"/>
            <a:ext cx="10270740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788978" y="2064573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vi-VN" sz="2800" dirty="0">
                <a:solidFill>
                  <a:schemeClr val="bg1"/>
                </a:solidFill>
              </a:rPr>
              <a:t>✔</a:t>
            </a:r>
            <a:r>
              <a:rPr lang="ro-RO" sz="2800" dirty="0">
                <a:solidFill>
                  <a:schemeClr val="bg1"/>
                </a:solidFill>
              </a:rPr>
              <a:t> </a:t>
            </a:r>
            <a:r>
              <a:rPr lang="ro-RO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Articole vestimentare diverse</a:t>
            </a:r>
            <a:br>
              <a:rPr lang="vi-VN" sz="3200" dirty="0"/>
            </a:br>
            <a:endParaRPr 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3782592" y="5347806"/>
            <a:ext cx="63754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ro-RO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Produse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exclusive in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colaborare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cu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alte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branduri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sau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artisti</a:t>
            </a:r>
            <a:endParaRPr lang="en-US" sz="28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endParaRPr lang="ro-RO" sz="28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88978" y="2934976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vi-VN" sz="2800" dirty="0">
                <a:solidFill>
                  <a:schemeClr val="bg1"/>
                </a:solidFill>
              </a:rPr>
              <a:t>✔</a:t>
            </a:r>
            <a:r>
              <a:rPr lang="ro-RO" sz="2800" dirty="0">
                <a:solidFill>
                  <a:schemeClr val="bg1"/>
                </a:solidFill>
              </a:rPr>
              <a:t> </a:t>
            </a:r>
            <a:r>
              <a:rPr lang="ro-RO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Produse adaptate la piețe locale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ro-RO" sz="28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914400" lvl="1" indent="-457200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800" i="1" dirty="0"/>
              <a:t>Nike Air Force 1 "CNY Edition"</a:t>
            </a:r>
            <a:endParaRPr lang="ro-RO" sz="2800" i="1" dirty="0"/>
          </a:p>
          <a:p>
            <a:pPr marL="914400" lvl="1" indent="-457200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800" dirty="0"/>
              <a:t>Nike Mercurial Brazil Edition</a:t>
            </a:r>
            <a:r>
              <a:rPr lang="ro-RO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endParaRPr lang="en-US" sz="28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914400" lvl="1" indent="-457200">
              <a:buClr>
                <a:srgbClr val="FF0000"/>
              </a:buClr>
              <a:buFont typeface="Arial" pitchFamily="34" charset="0"/>
              <a:buChar char="•"/>
            </a:pPr>
            <a:r>
              <a:rPr lang="ro-RO" sz="2800" dirty="0"/>
              <a:t>Nike Air Force 1 </a:t>
            </a:r>
            <a:r>
              <a:rPr lang="ro-RO" sz="2800" dirty="0" err="1"/>
              <a:t>Sakura</a:t>
            </a:r>
            <a:br>
              <a:rPr lang="vi-VN" sz="2000" dirty="0"/>
            </a:br>
            <a:endParaRPr lang="en-US" sz="2000" dirty="0"/>
          </a:p>
        </p:txBody>
      </p:sp>
      <p:pic>
        <p:nvPicPr>
          <p:cNvPr id="1027" name="Picture 3" descr="C:\Users\Gelu\Desktop\map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4978" y="3021012"/>
            <a:ext cx="1627188" cy="162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/>
          <p:cNvCxnSpPr/>
          <p:nvPr/>
        </p:nvCxnSpPr>
        <p:spPr>
          <a:xfrm>
            <a:off x="3922329" y="4867275"/>
            <a:ext cx="7977186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922329" y="2847975"/>
            <a:ext cx="7977186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C:\Users\Gelu\Desktop\image-removebg-preview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2988" y="5166906"/>
            <a:ext cx="2293118" cy="1513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55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5475" y="685801"/>
            <a:ext cx="109728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ro-RO" sz="6000" dirty="0">
                <a:latin typeface="Futura PT" pitchFamily="34" charset="-18"/>
              </a:rPr>
              <a:t>POLITICA DE PREȚ</a:t>
            </a:r>
            <a:endParaRPr lang="en-US" sz="6000" dirty="0"/>
          </a:p>
        </p:txBody>
      </p:sp>
      <p:pic>
        <p:nvPicPr>
          <p:cNvPr id="5122" name="Picture 2" descr="C:\Users\Gelu\Desktop\NIKE PROJECT\send-mone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4" y="1885951"/>
            <a:ext cx="4067174" cy="4067174"/>
          </a:xfrm>
          <a:prstGeom prst="rect">
            <a:avLst/>
          </a:prstGeom>
          <a:noFill/>
          <a:effectLst>
            <a:glow rad="101600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2828925" y="1895476"/>
            <a:ext cx="8963025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828925" y="5934076"/>
            <a:ext cx="8963025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400548" y="2536866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en-US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Strategia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de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preț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premium</a:t>
            </a:r>
            <a:b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en-US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Strategia „Skimming Pricing”</a:t>
            </a:r>
            <a:b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en-US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Strategia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„Value-Based Pricing”</a:t>
            </a:r>
            <a:b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b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endParaRPr lang="en-US" sz="28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00548" y="4306581"/>
            <a:ext cx="59325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ro-RO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o-RO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Discount-uri și promoții sezoniere</a:t>
            </a:r>
            <a:endParaRPr lang="ro-RO" sz="28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en-US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Pre</a:t>
            </a:r>
            <a:r>
              <a:rPr lang="ro-RO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țuri diferite in funcție de țară</a:t>
            </a:r>
            <a:endParaRPr lang="en-US" sz="28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43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5" descr="C:\Users\Gelu\Desktop\NIKE PROJECT\arrow-dow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804" y="3702532"/>
            <a:ext cx="2373633" cy="2373633"/>
          </a:xfrm>
          <a:prstGeom prst="rect">
            <a:avLst/>
          </a:prstGeom>
          <a:noFill/>
          <a:effectLst>
            <a:glow rad="101600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" y="123825"/>
            <a:ext cx="109728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ro-RO" sz="5400" dirty="0">
                <a:latin typeface="Futura PT" pitchFamily="34" charset="-18"/>
              </a:rPr>
              <a:t>POLITICA DE DISTRI</a:t>
            </a:r>
            <a:r>
              <a:rPr lang="en-US" sz="5400" dirty="0">
                <a:latin typeface="Futura PT" pitchFamily="34" charset="-18"/>
              </a:rPr>
              <a:t>BU</a:t>
            </a:r>
            <a:r>
              <a:rPr lang="ro-RO" sz="5400" dirty="0">
                <a:latin typeface="Futura PT" pitchFamily="34" charset="-18"/>
              </a:rPr>
              <a:t>ȚIE</a:t>
            </a:r>
            <a:endParaRPr lang="en-US" sz="5400" dirty="0"/>
          </a:p>
        </p:txBody>
      </p:sp>
      <p:pic>
        <p:nvPicPr>
          <p:cNvPr id="6147" name="Picture 3" descr="C:\Users\Gelu\Desktop\NIKE PROJECT\logistics 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38" y="1819274"/>
            <a:ext cx="1757449" cy="1757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133350" y="6190465"/>
            <a:ext cx="11677650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9" name="Picture 5" descr="C:\Users\Gelu\Desktop\NIKE PROJECT\cargo-plan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74337">
            <a:off x="8766242" y="563177"/>
            <a:ext cx="2731241" cy="2731241"/>
          </a:xfrm>
          <a:prstGeom prst="rect">
            <a:avLst/>
          </a:prstGeom>
          <a:noFill/>
          <a:effectLst>
            <a:glow rad="101600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133350" y="1295399"/>
            <a:ext cx="8601075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262437" y="2082628"/>
            <a:ext cx="643822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ro-RO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Magazine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proprii</a:t>
            </a:r>
            <a:endParaRPr lang="en-US" sz="28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en-US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Retaileri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autoriza</a:t>
            </a:r>
            <a:r>
              <a:rPr lang="ro-RO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ț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</a:p>
          <a:p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en-US" sz="2800" b="1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V</a:t>
            </a:r>
            <a:r>
              <a:rPr lang="ro-RO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â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nzare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online 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33350" y="3605159"/>
            <a:ext cx="8601075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Gelu\Desktop\resell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38" y="4231814"/>
            <a:ext cx="1475962" cy="14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Gelu\Desktop\NIKE PROJECT\arrow-dow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529" y="1917465"/>
            <a:ext cx="1744983" cy="1744983"/>
          </a:xfrm>
          <a:prstGeom prst="rect">
            <a:avLst/>
          </a:prstGeom>
          <a:noFill/>
          <a:effectLst>
            <a:glow rad="101600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2483637" y="2575071"/>
            <a:ext cx="1210588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ro-RO" sz="2000" b="1" dirty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CANALE</a:t>
            </a:r>
            <a:endParaRPr lang="en-US" sz="2000" b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86474" y="4636386"/>
            <a:ext cx="2328363" cy="461665"/>
          </a:xfrm>
          <a:prstGeom prst="rect">
            <a:avLst/>
          </a:prstGeom>
          <a:noFill/>
          <a:effectLst>
            <a:glow rad="101600">
              <a:schemeClr val="bg1">
                <a:alpha val="6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STRATEGII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4657" y="3765965"/>
            <a:ext cx="691106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ro-RO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Distribu</a:t>
            </a:r>
            <a:r>
              <a:rPr lang="ro-RO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ție selectivă </a:t>
            </a:r>
            <a:endParaRPr lang="en-US" sz="28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en-US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o-RO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Distribuție exclusivă (la produse limitate)</a:t>
            </a:r>
          </a:p>
          <a:p>
            <a:pPr marL="914400" lvl="1" indent="-457200"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“raffle-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uri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”</a:t>
            </a:r>
            <a:r>
              <a:rPr lang="ro-RO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la </a:t>
            </a:r>
            <a:r>
              <a:rPr lang="ro-RO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lansar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e</a:t>
            </a:r>
          </a:p>
          <a:p>
            <a:pPr marL="914400" lvl="1" indent="-457200">
              <a:buClr>
                <a:srgbClr val="FF0000"/>
              </a:buClr>
              <a:buFont typeface="Wingdings" pitchFamily="2" charset="2"/>
              <a:buChar char="§"/>
            </a:pPr>
            <a:r>
              <a:rPr lang="ro-RO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resell la prețuri mult mai mari</a:t>
            </a:r>
            <a:endParaRPr lang="en-US" sz="28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55529" y="1588441"/>
            <a:ext cx="5056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itchFamily="2" charset="2"/>
              <a:buChar char="§"/>
            </a:pPr>
            <a:r>
              <a:rPr lang="ro-RO" sz="2400" b="1" dirty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DISTRIBUȚIE OMNICHANNEL</a:t>
            </a:r>
            <a:endParaRPr lang="en-US" sz="2400" b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19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20" grpId="0"/>
      <p:bldP spid="21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0006"/>
            <a:ext cx="109728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ro-RO" sz="4800" dirty="0">
                <a:latin typeface="Futura PT" pitchFamily="34" charset="-18"/>
              </a:rPr>
              <a:t>POLITICA DE PROMOVARE</a:t>
            </a:r>
            <a:endParaRPr lang="en-US" sz="4800" dirty="0"/>
          </a:p>
        </p:txBody>
      </p:sp>
      <p:pic>
        <p:nvPicPr>
          <p:cNvPr id="7171" name="Picture 3" descr="C:\Users\Gelu\Desktop\NIKE PROJECT\online-advertisin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09900"/>
            <a:ext cx="3524250" cy="3524250"/>
          </a:xfrm>
          <a:prstGeom prst="rect">
            <a:avLst/>
          </a:prstGeom>
          <a:noFill/>
          <a:effectLst>
            <a:glow rad="101600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:\Users\Gelu\Desktop\NIKE PROJECT\growth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31367">
            <a:off x="581026" y="1209676"/>
            <a:ext cx="2476500" cy="2476500"/>
          </a:xfrm>
          <a:prstGeom prst="rect">
            <a:avLst/>
          </a:prstGeom>
          <a:noFill/>
          <a:effectLst>
            <a:glow rad="101600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2095500" y="6534150"/>
            <a:ext cx="9705975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28600" y="1371600"/>
            <a:ext cx="8077200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900486" y="2389949"/>
            <a:ext cx="720996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✔</a:t>
            </a:r>
            <a:r>
              <a:rPr lang="en-US" sz="2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Colăborari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vedete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internationale</a:t>
            </a:r>
            <a:br>
              <a:rPr lang="vi-V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vi-VN" sz="2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✔</a:t>
            </a:r>
            <a:r>
              <a:rPr lang="en-US" sz="2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Reclame și videoclipuri </a:t>
            </a:r>
            <a:r>
              <a:rPr lang="ro-RO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inspiraționale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vi-V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vi-VN" sz="2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✔</a:t>
            </a:r>
            <a:r>
              <a:rPr lang="en-US" sz="2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media</a:t>
            </a:r>
            <a:br>
              <a:rPr lang="vi-V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21CF0-58FB-771C-955A-3D0B9A9F13F0}"/>
              </a:ext>
            </a:extLst>
          </p:cNvPr>
          <p:cNvSpPr txBox="1"/>
          <p:nvPr/>
        </p:nvSpPr>
        <p:spPr>
          <a:xfrm>
            <a:off x="3524250" y="1805174"/>
            <a:ext cx="35830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Strategii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globale</a:t>
            </a:r>
            <a:endParaRPr lang="ro-RO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D7361F-52F0-5182-3C63-BA5A71F5D0D6}"/>
              </a:ext>
            </a:extLst>
          </p:cNvPr>
          <p:cNvSpPr txBox="1"/>
          <p:nvPr/>
        </p:nvSpPr>
        <p:spPr>
          <a:xfrm>
            <a:off x="3654750" y="4409182"/>
            <a:ext cx="43491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b="1" dirty="0"/>
              <a:t>India:</a:t>
            </a:r>
            <a:r>
              <a:rPr lang="en-US" sz="3200" b="1" dirty="0"/>
              <a:t> </a:t>
            </a:r>
            <a:r>
              <a:rPr lang="ro-RO" sz="3200" i="1" dirty="0"/>
              <a:t>"Da Da </a:t>
            </a:r>
            <a:r>
              <a:rPr lang="ro-RO" sz="3200" i="1" dirty="0" err="1"/>
              <a:t>Ding</a:t>
            </a:r>
            <a:r>
              <a:rPr lang="ro-RO" sz="3200" i="1" dirty="0"/>
              <a:t>" – videoclip cu atlete indiene</a:t>
            </a:r>
            <a:endParaRPr lang="ro-RO" sz="3200" dirty="0"/>
          </a:p>
        </p:txBody>
      </p:sp>
      <p:pic>
        <p:nvPicPr>
          <p:cNvPr id="6" name="Online Media 5" title="Nike: Da Da Ding - Wieden+Kennedy, Delhi">
            <a:hlinkClick r:id="" action="ppaction://media"/>
            <a:extLst>
              <a:ext uri="{FF2B5EF4-FFF2-40B4-BE49-F238E27FC236}">
                <a16:creationId xmlns:a16="http://schemas.microsoft.com/office/drawing/2014/main" id="{6DBB99ED-6C25-55D3-00FD-C2273416A68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8134350" y="4054346"/>
            <a:ext cx="3271591" cy="184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2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ro-RO" sz="4000" dirty="0">
                <a:latin typeface="Futura PT" pitchFamily="34" charset="-18"/>
              </a:rPr>
              <a:t>PROBLEME ÎNTÂMPINATE</a:t>
            </a:r>
            <a:endParaRPr lang="en-US" sz="4000" dirty="0">
              <a:latin typeface="Futura PT" pitchFamily="34" charset="-18"/>
            </a:endParaRPr>
          </a:p>
        </p:txBody>
      </p:sp>
      <p:pic>
        <p:nvPicPr>
          <p:cNvPr id="9220" name="Picture 4" descr="C:\Users\Gelu\Desktop\NIKE PROJECT\problem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6" y="447675"/>
            <a:ext cx="5943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952501" y="5810250"/>
            <a:ext cx="9886949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23900" y="1362075"/>
            <a:ext cx="10115550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638675" y="1887885"/>
            <a:ext cx="630555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ro-RO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Controverse legate de muncă și condițiile de producție</a:t>
            </a:r>
            <a:b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ro-RO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Probleme cu reglementările și restricțiile locale</a:t>
            </a:r>
            <a:b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Dificultăți în adaptarea la preferințele locale</a:t>
            </a:r>
            <a:b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Critici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legate de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sustenabilitate</a:t>
            </a:r>
            <a:b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ro-RO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Probleme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logistice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și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de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distribuție</a:t>
            </a:r>
            <a:endParaRPr lang="en-US" sz="28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21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0825" y="666750"/>
            <a:ext cx="109728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6000" dirty="0">
                <a:latin typeface="Futura PT" pitchFamily="34" charset="-18"/>
              </a:rPr>
              <a:t>FACTORI DE RISC</a:t>
            </a:r>
            <a:endParaRPr lang="en-US" sz="6000" dirty="0"/>
          </a:p>
        </p:txBody>
      </p:sp>
      <p:pic>
        <p:nvPicPr>
          <p:cNvPr id="8194" name="Picture 2" descr="C:\Users\Gelu\Desktop\NIKE PROJECT\awarenes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2057400"/>
            <a:ext cx="38862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419100" y="1781175"/>
            <a:ext cx="11010900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14325" y="6057900"/>
            <a:ext cx="11115675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219575" y="2287935"/>
            <a:ext cx="686752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ro-RO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Creșterea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concurenței</a:t>
            </a:r>
            <a:b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ro-RO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it-IT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Factori economici globali (inflație, recesiune)</a:t>
            </a:r>
            <a:b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ro-RO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Schimbările în preferințele consumatorilor</a:t>
            </a:r>
            <a:b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</a:t>
            </a:r>
            <a:r>
              <a:rPr lang="ro-RO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Reglementări guvernamentale</a:t>
            </a:r>
            <a:b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vi-VN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✔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Impactul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social media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și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al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reputației</a:t>
            </a:r>
            <a:endParaRPr lang="en-US" sz="28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56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8989-A02F-7723-AACF-D74D651D7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523" y="133964"/>
            <a:ext cx="5673213" cy="1143000"/>
          </a:xfrm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88900" dir="5400000" algn="tl" rotWithShape="0">
              <a:srgbClr val="FF000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r>
              <a:rPr lang="en-US" sz="7200" dirty="0"/>
              <a:t>JOIN QUIZ!</a:t>
            </a:r>
            <a:endParaRPr lang="ro-RO" sz="7200" dirty="0">
              <a:latin typeface="Futura P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8A148A-A433-AC5E-4AC5-468CFC9DD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523" y="1353472"/>
            <a:ext cx="4799064" cy="47990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5FAE4F-9B48-7883-4D4B-930F69B54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0343" y="2081132"/>
            <a:ext cx="2695736" cy="26957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4E6583-45D3-7325-0E04-8B0C0C8E8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03116">
            <a:off x="365645" y="2701025"/>
            <a:ext cx="2663798" cy="266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59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4338E-9C52-5B46-BE13-509CEBD2C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47119" y="1123642"/>
            <a:ext cx="10972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200" dirty="0"/>
              <a:t>BIBLIOGRAFIE</a:t>
            </a:r>
            <a:endParaRPr lang="ro-RO" sz="7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65D5DE-8E0D-C884-A652-DDE888C00A9B}"/>
              </a:ext>
            </a:extLst>
          </p:cNvPr>
          <p:cNvSpPr txBox="1"/>
          <p:nvPr/>
        </p:nvSpPr>
        <p:spPr>
          <a:xfrm>
            <a:off x="2881194" y="2681898"/>
            <a:ext cx="89276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✔</a:t>
            </a:r>
            <a:r>
              <a:rPr lang="en-US" sz="3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https://ro.wikipedia.org/wiki/Nike,_Inc</a:t>
            </a:r>
          </a:p>
          <a:p>
            <a:r>
              <a:rPr lang="vi-VN" sz="3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✔</a:t>
            </a:r>
            <a:r>
              <a:rPr lang="en-US" sz="3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https://aithor.com/essay-examples/nike-distribution-channels</a:t>
            </a:r>
          </a:p>
          <a:p>
            <a:r>
              <a:rPr lang="vi-VN" sz="3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✔</a:t>
            </a:r>
            <a:r>
              <a:rPr lang="en-US" sz="3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https://melbado.com/the-pricing-strategy-of-nike-and-why-it-is-so-effective/</a:t>
            </a:r>
            <a:endParaRPr lang="ro-RO" sz="32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123D6B-2AA7-760E-D9E5-0E731208C1C1}"/>
              </a:ext>
            </a:extLst>
          </p:cNvPr>
          <p:cNvCxnSpPr>
            <a:cxnSpLocks/>
          </p:cNvCxnSpPr>
          <p:nvPr/>
        </p:nvCxnSpPr>
        <p:spPr>
          <a:xfrm>
            <a:off x="638483" y="2266642"/>
            <a:ext cx="5401596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60A9BD2-7725-2E3D-DC73-6C6D3B282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10" y="2815710"/>
            <a:ext cx="2286923" cy="2286923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166810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2D6CCC-DB20-E028-A538-1B64A2BFE41D}"/>
              </a:ext>
            </a:extLst>
          </p:cNvPr>
          <p:cNvSpPr txBox="1"/>
          <p:nvPr/>
        </p:nvSpPr>
        <p:spPr>
          <a:xfrm>
            <a:off x="863285" y="2068635"/>
            <a:ext cx="10465429" cy="2092881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  <a:reflection blurRad="6350" stA="50000" endA="300" endPos="55500" dist="50800" dir="5400000" sy="-100000" algn="bl" rotWithShape="0"/>
          </a:effectLst>
        </p:spPr>
        <p:txBody>
          <a:bodyPr wrap="none" rtlCol="0" anchor="ctr">
            <a:spAutoFit/>
          </a:bodyPr>
          <a:lstStyle/>
          <a:p>
            <a:pPr algn="ctr"/>
            <a:r>
              <a:rPr lang="en-US" sz="13000" dirty="0"/>
              <a:t>VA MULTUMIM!</a:t>
            </a:r>
            <a:endParaRPr lang="ro-RO" sz="13000" dirty="0"/>
          </a:p>
        </p:txBody>
      </p:sp>
    </p:spTree>
    <p:extLst>
      <p:ext uri="{BB962C8B-B14F-4D97-AF65-F5344CB8AC3E}">
        <p14:creationId xmlns:p14="http://schemas.microsoft.com/office/powerpoint/2010/main" val="2771595521"/>
      </p:ext>
    </p:extLst>
  </p:cSld>
  <p:clrMapOvr>
    <a:masterClrMapping/>
  </p:clrMapOvr>
</p:sld>
</file>

<file path=ppt/theme/theme1.xml><?xml version="1.0" encoding="utf-8"?>
<a:theme xmlns:a="http://schemas.openxmlformats.org/drawingml/2006/main" name="Thatch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創英角ｺﾞｼｯｸUB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創英角ｺﾞｼｯｸUB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hatch">
      <a:fillStyleLst>
        <a:solidFill>
          <a:schemeClr val="phClr"/>
        </a:solidFill>
        <a:gradFill rotWithShape="1">
          <a:gsLst>
            <a:gs pos="0">
              <a:schemeClr val="phClr">
                <a:tint val="79000"/>
                <a:satMod val="180000"/>
              </a:schemeClr>
            </a:gs>
            <a:gs pos="65000">
              <a:schemeClr val="phClr">
                <a:tint val="52000"/>
                <a:satMod val="250000"/>
              </a:schemeClr>
            </a:gs>
            <a:gs pos="100000">
              <a:schemeClr val="phClr">
                <a:tint val="29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8700000"/>
            </a:lightRig>
          </a:scene3d>
          <a:sp3d contourW="12700" prstMaterial="dkEdge">
            <a:bevelT w="0" h="0" prst="relaxedInset"/>
            <a:contourClr>
              <a:schemeClr val="phClr">
                <a:shade val="65000"/>
                <a:satMod val="15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13200000"/>
            </a:lightRig>
          </a:scene3d>
          <a:sp3d prstMaterial="dkEdge">
            <a:bevelT w="63500" h="508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hade val="95000"/>
                <a:satMod val="200000"/>
              </a:schemeClr>
            </a:gs>
            <a:gs pos="53000">
              <a:schemeClr val="phClr">
                <a:shade val="60000"/>
                <a:satMod val="220000"/>
              </a:schemeClr>
            </a:gs>
            <a:gs pos="100000">
              <a:schemeClr val="phClr">
                <a:shade val="45000"/>
                <a:satMod val="22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3000"/>
                <a:shade val="97000"/>
                <a:satMod val="230000"/>
              </a:schemeClr>
            </a:gs>
            <a:gs pos="100000">
              <a:schemeClr val="phClr">
                <a:shade val="35000"/>
                <a:satMod val="250000"/>
              </a:schemeClr>
            </a:gs>
          </a:gsLst>
          <a:path path="circle">
            <a:fillToRect l="15000" t="50000" r="85000" b="6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Thatch</Template>
  <TotalTime>606</TotalTime>
  <Words>377</Words>
  <Application>Microsoft Office PowerPoint</Application>
  <PresentationFormat>Widescreen</PresentationFormat>
  <Paragraphs>46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Futura PT</vt:lpstr>
      <vt:lpstr>Tahoma</vt:lpstr>
      <vt:lpstr>Tahoma (body)</vt:lpstr>
      <vt:lpstr>Tw Cen MT</vt:lpstr>
      <vt:lpstr>Wingdings</vt:lpstr>
      <vt:lpstr>Thatch</vt:lpstr>
      <vt:lpstr>PowerPoint Presentation</vt:lpstr>
      <vt:lpstr>STRATEGII DE INTRARE PE PIEȚELE STRĂINE</vt:lpstr>
      <vt:lpstr>OPORTUNITĂȚI DE MARKETING</vt:lpstr>
      <vt:lpstr>POLITICA DE PRODUS</vt:lpstr>
      <vt:lpstr>POLITICA DE PREȚ</vt:lpstr>
      <vt:lpstr>POLITICA DE DISTRIBUȚIE</vt:lpstr>
      <vt:lpstr>POLITICA DE PROMOVARE</vt:lpstr>
      <vt:lpstr>PROBLEME ÎNTÂMPINATE</vt:lpstr>
      <vt:lpstr>FACTORI DE RISC</vt:lpstr>
      <vt:lpstr>JOIN QUIZ!</vt:lpstr>
      <vt:lpstr>BIBLIOGRAFIE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TheCRIS ㅤ</dc:creator>
  <cp:lastModifiedBy>TheCRIS ㅤ</cp:lastModifiedBy>
  <cp:revision>182</cp:revision>
  <dcterms:created xsi:type="dcterms:W3CDTF">2025-03-10T20:59:38Z</dcterms:created>
  <dcterms:modified xsi:type="dcterms:W3CDTF">2025-03-17T11:13:43Z</dcterms:modified>
</cp:coreProperties>
</file>